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8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545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B2545"/>
                </a:solidFill>
                <a:latin typeface="Calibri"/>
              </a:rPr>
              <a:t>Monthly Energy Consumption (kWh)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 Consumed (kWh)</c:v>
                </c:pt>
              </c:strCache>
            </c:strRef>
          </c:tx>
          <c:spPr>
            <a:solidFill>
              <a:srgbClr val="134074"/>
            </a:solidFill>
            <a:ln w="38100" cap="flat">
              <a:solidFill>
                <a:srgbClr val="13407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B2545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4074"/>
              </a:solidFill>
              <a:ln w="9525" cap="flat">
                <a:solidFill>
                  <a:srgbClr val="13407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3467</c:v>
                </c:pt>
                <c:pt idx="1">
                  <c:v>3328</c:v>
                </c:pt>
                <c:pt idx="2">
                  <c:v>3574</c:v>
                </c:pt>
                <c:pt idx="3">
                  <c:v>3683</c:v>
                </c:pt>
                <c:pt idx="4">
                  <c:v>2662</c:v>
                </c:pt>
                <c:pt idx="5">
                  <c:v>2606</c:v>
                </c:pt>
                <c:pt idx="6">
                  <c:v>1794</c:v>
                </c:pt>
                <c:pt idx="7">
                  <c:v>3075</c:v>
                </c:pt>
                <c:pt idx="8">
                  <c:v>3310</c:v>
                </c:pt>
                <c:pt idx="9">
                  <c:v>4791</c:v>
                </c:pt>
                <c:pt idx="10">
                  <c:v>3134</c:v>
                </c:pt>
                <c:pt idx="11">
                  <c:v>2909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B2545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CE3EC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CE3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 Consumed (kWh)</c:v>
                </c:pt>
              </c:strCache>
            </c:strRef>
          </c:tx>
          <c:spPr>
            <a:solidFill>
              <a:srgbClr val="13407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25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AC</c:v>
                  </c:pt>
                  <c:pt idx="1">
                    <c:v>Water Heater</c:v>
                  </c:pt>
                  <c:pt idx="2">
                    <c:v>Refrigerator</c:v>
                  </c:pt>
                  <c:pt idx="3">
                    <c:v>Washing Machine</c:v>
                  </c:pt>
                  <c:pt idx="4">
                    <c:v>TV</c:v>
                  </c:pt>
                  <c:pt idx="5">
                    <c:v>Microwave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18153</c:v>
                </c:pt>
                <c:pt idx="1">
                  <c:v>7653</c:v>
                </c:pt>
                <c:pt idx="2">
                  <c:v>5752</c:v>
                </c:pt>
                <c:pt idx="3">
                  <c:v>3150</c:v>
                </c:pt>
                <c:pt idx="4">
                  <c:v>2220</c:v>
                </c:pt>
                <c:pt idx="5">
                  <c:v>1405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B254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CE3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Consumer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C300"/>
              </a:solidFill>
              <a:effectLst/>
            </c:spPr>
          </c:dPt>
          <c:dPt>
            <c:idx val="1"/>
            <c:bubble3D val="0"/>
            <c:spPr>
              <a:solidFill>
                <a:srgbClr val="134074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Residential</c:v>
                </c:pt>
                <c:pt idx="1">
                  <c:v>Commercial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58</c:v>
                </c:pt>
                <c:pt idx="1">
                  <c:v>42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32639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6F8FB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Commercial</c:v>
                </c:pt>
              </c:strCache>
            </c:strRef>
          </c:tx>
          <c:spPr>
            <a:solidFill>
              <a:srgbClr val="13407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B25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Bengaluru</c:v>
                  </c:pt>
                  <c:pt idx="1">
                    <c:v>Chennai</c:v>
                  </c:pt>
                  <c:pt idx="2">
                    <c:v>Delhi</c:v>
                  </c:pt>
                  <c:pt idx="3">
                    <c:v>Kolkata</c:v>
                  </c:pt>
                  <c:pt idx="4">
                    <c:v>Mumbai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3416</c:v>
                </c:pt>
                <c:pt idx="1">
                  <c:v>3590</c:v>
                </c:pt>
                <c:pt idx="2">
                  <c:v>3571</c:v>
                </c:pt>
                <c:pt idx="3">
                  <c:v>3640</c:v>
                </c:pt>
                <c:pt idx="4">
                  <c:v>1735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Residential</c:v>
                </c:pt>
              </c:strCache>
            </c:strRef>
          </c:tx>
          <c:spPr>
            <a:solidFill>
              <a:srgbClr val="FFC3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B25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Bengaluru</c:v>
                  </c:pt>
                  <c:pt idx="1">
                    <c:v>Chennai</c:v>
                  </c:pt>
                  <c:pt idx="2">
                    <c:v>Delhi</c:v>
                  </c:pt>
                  <c:pt idx="3">
                    <c:v>Kolkata</c:v>
                  </c:pt>
                  <c:pt idx="4">
                    <c:v>Mumbai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5959</c:v>
                </c:pt>
                <c:pt idx="1">
                  <c:v>3644</c:v>
                </c:pt>
                <c:pt idx="2">
                  <c:v>3981</c:v>
                </c:pt>
                <c:pt idx="3">
                  <c:v>4817</c:v>
                </c:pt>
                <c:pt idx="4">
                  <c:v>3980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B254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CE3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32639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Bill (Rs.)</c:v>
                </c:pt>
              </c:strCache>
            </c:strRef>
          </c:tx>
          <c:spPr>
            <a:solidFill>
              <a:srgbClr val="13407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0B25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Mumbai</c:v>
                  </c:pt>
                  <c:pt idx="1">
                    <c:v>Chennai</c:v>
                  </c:pt>
                  <c:pt idx="2">
                    <c:v>Delhi</c:v>
                  </c:pt>
                  <c:pt idx="3">
                    <c:v>Kolkata</c:v>
                  </c:pt>
                  <c:pt idx="4">
                    <c:v>Bengaluru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48841</c:v>
                </c:pt>
                <c:pt idx="1">
                  <c:v>63017</c:v>
                </c:pt>
                <c:pt idx="2">
                  <c:v>63952</c:v>
                </c:pt>
                <c:pt idx="3">
                  <c:v>71486.5</c:v>
                </c:pt>
                <c:pt idx="4">
                  <c:v>77661.5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0B254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3263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DCE3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Payment 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34074"/>
              </a:solidFill>
              <a:effectLst/>
            </c:spPr>
          </c:dPt>
          <c:dPt>
            <c:idx val="1"/>
            <c:bubble3D val="0"/>
            <c:spPr>
              <a:solidFill>
                <a:srgbClr val="FFC300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25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25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Paid</c:v>
                </c:pt>
                <c:pt idx="1">
                  <c:v>Pending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86</c:v>
                </c:pt>
                <c:pt idx="1">
                  <c:v>14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50">
              <a:solidFill>
                <a:srgbClr val="132639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Consumption Level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34074"/>
              </a:solidFill>
              <a:effectLst/>
            </c:spPr>
          </c:dPt>
          <c:dPt>
            <c:idx val="1"/>
            <c:bubble3D val="0"/>
            <c:spPr>
              <a:solidFill>
                <a:srgbClr val="FFC300"/>
              </a:solidFill>
              <a:effectLst/>
            </c:spPr>
          </c:dPt>
          <c:dPt>
            <c:idx val="2"/>
            <c:bubble3D val="0"/>
            <c:spPr>
              <a:solidFill>
                <a:srgbClr val="5FA8D3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25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25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25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Medium</c:v>
                </c:pt>
                <c:pt idx="1">
                  <c:v>Low</c:v>
                </c:pt>
                <c:pt idx="2">
                  <c:v>High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41</c:v>
                </c:pt>
                <c:pt idx="1">
                  <c:v>37</c:v>
                </c:pt>
                <c:pt idx="2">
                  <c:v>22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50">
              <a:solidFill>
                <a:srgbClr val="132639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Top Consumers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34074"/>
              </a:solidFill>
              <a:effectLst/>
            </c:spPr>
          </c:dPt>
          <c:dPt>
            <c:idx val="1"/>
            <c:bubble3D val="0"/>
            <c:spPr>
              <a:solidFill>
                <a:srgbClr val="FFC300"/>
              </a:solidFill>
              <a:effectLst/>
            </c:spPr>
          </c:dPt>
          <c:dPt>
            <c:idx val="2"/>
            <c:bubble3D val="0"/>
            <c:spPr>
              <a:solidFill>
                <a:srgbClr val="5FA8D3"/>
              </a:solidFill>
              <a:effectLst/>
            </c:spPr>
          </c:dPt>
          <c:dPt>
            <c:idx val="3"/>
            <c:bubble3D val="0"/>
            <c:spPr>
              <a:solidFill>
                <a:srgbClr val="8AA9C1"/>
              </a:solidFill>
              <a:effectLst/>
            </c:spPr>
          </c:dPt>
          <c:dPt>
            <c:idx val="4"/>
            <c:bubble3D val="0"/>
            <c:spPr>
              <a:solidFill>
                <a:srgbClr val="0B2545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0&quot;%&quot;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Riya Ghosh</c:v>
                </c:pt>
                <c:pt idx="1">
                  <c:v>Sneha Paul</c:v>
                </c:pt>
                <c:pt idx="2">
                  <c:v>Raj Das</c:v>
                </c:pt>
                <c:pt idx="3">
                  <c:v>Ananya Sen</c:v>
                </c:pt>
                <c:pt idx="4">
                  <c:v>Nisha Paul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28</c:v>
                </c:pt>
                <c:pt idx="1">
                  <c:v>22</c:v>
                </c:pt>
                <c:pt idx="2">
                  <c:v>22</c:v>
                </c:pt>
                <c:pt idx="3">
                  <c:v>14</c:v>
                </c:pt>
                <c:pt idx="4">
                  <c:v>14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50">
              <a:solidFill>
                <a:srgbClr val="132639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6F8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1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6.xml"/><Relationship Id="rId3" Type="http://schemas.openxmlformats.org/officeDocument/2006/relationships/chart" Target="/ppt/charts/chart7.xml"/><Relationship Id="rId1" Type="http://schemas.openxmlformats.org/officeDocument/2006/relationships/image" Target="../media/image-1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8.xm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1.png"/><Relationship Id="rId3" Type="http://schemas.openxmlformats.org/officeDocument/2006/relationships/image" Target="../media/image-17-1.png"/><Relationship Id="rId4" Type="http://schemas.openxmlformats.org/officeDocument/2006/relationships/image" Target="../media/image-17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0E3260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4206240" cy="4206240"/>
          </a:xfrm>
          <a:prstGeom prst="ellipse">
            <a:avLst/>
          </a:prstGeom>
          <a:solidFill>
            <a:srgbClr val="0E3260"/>
          </a:solidFill>
          <a:ln/>
        </p:spPr>
      </p:sp>
      <p:sp>
        <p:nvSpPr>
          <p:cNvPr id="4" name="Shape 2"/>
          <p:cNvSpPr/>
          <p:nvPr/>
        </p:nvSpPr>
        <p:spPr>
          <a:xfrm>
            <a:off x="5592928" y="960120"/>
            <a:ext cx="1005840" cy="1005840"/>
          </a:xfrm>
          <a:prstGeom prst="ellipse">
            <a:avLst/>
          </a:prstGeom>
          <a:solidFill>
            <a:srgbClr val="FFC300"/>
          </a:solidFill>
          <a:ln/>
        </p:spPr>
      </p:sp>
      <p:pic>
        <p:nvPicPr>
          <p:cNvPr id="5" name="Image 0" descr="/home/claude/proj/icons/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2384" y="1179576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331720"/>
            <a:ext cx="10728655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ELECTRICITY BILL &amp; ENERGY</a:t>
            </a:r>
            <a:endParaRPr lang="en-US" sz="3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CONSUMPTION ANALYZER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1097280" y="3794760"/>
            <a:ext cx="99971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Excel-Based Data Analysis &amp; Interactive Dashboard Project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181905" y="4343400"/>
            <a:ext cx="1828800" cy="0"/>
          </a:xfrm>
          <a:prstGeom prst="line">
            <a:avLst/>
          </a:prstGeom>
          <a:noFill/>
          <a:ln w="15875">
            <a:solidFill>
              <a:srgbClr val="2E4A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97280" y="4526280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Excel Data Analysis Project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097280" y="6172200"/>
            <a:ext cx="99971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of Excellence for AI  |  Team Project Submission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3" name="Image 0" descr="/home/claude/proj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52728" y="402336"/>
            <a:ext cx="1043604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603504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1645920"/>
            <a:ext cx="53949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Raw Billing Data Into Insight
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3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analyzes electricity consumption and billing data using Microsoft Excel and presents it through an interactive dashboard for easy understanding of energy usage patterns.
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3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Excel formulas, Pivot Tables, and charts, raw transaction-level data is transformed into meaningful, decision-ready insights for households and businesses alike.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903720" y="1371600"/>
            <a:ext cx="4785055" cy="4480560"/>
          </a:xfrm>
          <a:prstGeom prst="roundRect">
            <a:avLst>
              <a:gd name="adj" fmla="val 1837"/>
            </a:avLst>
          </a:prstGeom>
          <a:solidFill>
            <a:srgbClr val="0B2545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572768"/>
            <a:ext cx="4236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C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Dashboard Helps Identify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7178040" y="2148840"/>
            <a:ext cx="457200" cy="457200"/>
          </a:xfrm>
          <a:prstGeom prst="ellipse">
            <a:avLst/>
          </a:prstGeom>
          <a:solidFill>
            <a:srgbClr val="2E6FA7"/>
          </a:solidFill>
          <a:ln/>
        </p:spPr>
      </p:sp>
      <p:pic>
        <p:nvPicPr>
          <p:cNvPr id="10" name="Image 1" descr="/home/claude/proj/icons/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8624" y="224942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772400" y="2093976"/>
            <a:ext cx="36420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High-Consuming Appliances
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devices drive electricity usage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7178040" y="3108960"/>
            <a:ext cx="457200" cy="457200"/>
          </a:xfrm>
          <a:prstGeom prst="ellipse">
            <a:avLst/>
          </a:prstGeom>
          <a:solidFill>
            <a:srgbClr val="2E6FA7"/>
          </a:solidFill>
          <a:ln/>
        </p:spPr>
      </p:sp>
      <p:pic>
        <p:nvPicPr>
          <p:cNvPr id="13" name="Image 2" descr="/home/claude/proj/icons/cit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624" y="3209544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772400" y="3054096"/>
            <a:ext cx="36420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High-Billing Cities
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 with higher total charges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7178040" y="4069080"/>
            <a:ext cx="457200" cy="457200"/>
          </a:xfrm>
          <a:prstGeom prst="ellipse">
            <a:avLst/>
          </a:prstGeom>
          <a:solidFill>
            <a:srgbClr val="2E6FA7"/>
          </a:solidFill>
          <a:ln/>
        </p:spPr>
      </p:sp>
      <p:pic>
        <p:nvPicPr>
          <p:cNvPr id="16" name="Image 3" descr="/home/claude/proj/icons/chartli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8624" y="4169664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772400" y="4014216"/>
            <a:ext cx="36420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Trends
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consumption patterns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7178040" y="5029200"/>
            <a:ext cx="457200" cy="457200"/>
          </a:xfrm>
          <a:prstGeom prst="ellipse">
            <a:avLst/>
          </a:prstGeom>
          <a:solidFill>
            <a:srgbClr val="2E6FA7"/>
          </a:solidFill>
          <a:ln/>
        </p:spPr>
      </p:sp>
      <p:pic>
        <p:nvPicPr>
          <p:cNvPr id="19" name="Image 4" descr="/home/claude/proj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8624" y="5129784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772400" y="4974336"/>
            <a:ext cx="36420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Collection
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vs. pending status by consumer</a:t>
            </a:r>
            <a:endParaRPr lang="en-US" sz="1250" dirty="0"/>
          </a:p>
        </p:txBody>
      </p:sp>
      <p:sp>
        <p:nvSpPr>
          <p:cNvPr id="21" name="Text 14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Bill &amp; Energy Consumption Analyzer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1123157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3" name="Image 0" descr="/home/claude/proj/icons/too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52728" y="402336"/>
            <a:ext cx="1043604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 Used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252728" y="841248"/>
            <a:ext cx="1043604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features applied throughout the project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02920" y="1481328"/>
            <a:ext cx="2645588" cy="934974"/>
          </a:xfrm>
          <a:prstGeom prst="roundRect">
            <a:avLst>
              <a:gd name="adj" fmla="val 7824"/>
            </a:avLst>
          </a:prstGeom>
          <a:solidFill>
            <a:srgbClr val="0B2545"/>
          </a:solidFill>
          <a:ln/>
        </p:spPr>
      </p:sp>
      <p:sp>
        <p:nvSpPr>
          <p:cNvPr id="7" name="Text 4"/>
          <p:cNvSpPr/>
          <p:nvPr/>
        </p:nvSpPr>
        <p:spPr>
          <a:xfrm>
            <a:off x="612648" y="1481328"/>
            <a:ext cx="2426132" cy="934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349676" y="1481328"/>
            <a:ext cx="2645588" cy="934974"/>
          </a:xfrm>
          <a:prstGeom prst="roundRect">
            <a:avLst>
              <a:gd name="adj" fmla="val 7824"/>
            </a:avLst>
          </a:prstGeom>
          <a:solidFill>
            <a:srgbClr val="134074"/>
          </a:solidFill>
          <a:ln/>
        </p:spPr>
      </p:sp>
      <p:sp>
        <p:nvSpPr>
          <p:cNvPr id="9" name="Text 6"/>
          <p:cNvSpPr/>
          <p:nvPr/>
        </p:nvSpPr>
        <p:spPr>
          <a:xfrm>
            <a:off x="3459404" y="1481328"/>
            <a:ext cx="2426132" cy="934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Tables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96432" y="1481328"/>
            <a:ext cx="2645588" cy="934974"/>
          </a:xfrm>
          <a:prstGeom prst="roundRect">
            <a:avLst>
              <a:gd name="adj" fmla="val 7824"/>
            </a:avLst>
          </a:prstGeom>
          <a:solidFill>
            <a:srgbClr val="0B2545"/>
          </a:solidFill>
          <a:ln/>
        </p:spPr>
      </p:sp>
      <p:sp>
        <p:nvSpPr>
          <p:cNvPr id="11" name="Text 8"/>
          <p:cNvSpPr/>
          <p:nvPr/>
        </p:nvSpPr>
        <p:spPr>
          <a:xfrm>
            <a:off x="6306160" y="1481328"/>
            <a:ext cx="2426132" cy="934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&amp; Filtering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9043187" y="1481328"/>
            <a:ext cx="2645588" cy="934974"/>
          </a:xfrm>
          <a:prstGeom prst="roundRect">
            <a:avLst>
              <a:gd name="adj" fmla="val 7824"/>
            </a:avLst>
          </a:prstGeom>
          <a:solidFill>
            <a:srgbClr val="134074"/>
          </a:solidFill>
          <a:ln/>
        </p:spPr>
      </p:sp>
      <p:sp>
        <p:nvSpPr>
          <p:cNvPr id="13" name="Text 10"/>
          <p:cNvSpPr/>
          <p:nvPr/>
        </p:nvSpPr>
        <p:spPr>
          <a:xfrm>
            <a:off x="9152915" y="1481328"/>
            <a:ext cx="2426132" cy="934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" y="2617470"/>
            <a:ext cx="2645588" cy="934974"/>
          </a:xfrm>
          <a:prstGeom prst="roundRect">
            <a:avLst>
              <a:gd name="adj" fmla="val 7824"/>
            </a:avLst>
          </a:prstGeom>
          <a:solidFill>
            <a:srgbClr val="134074"/>
          </a:solidFill>
          <a:ln/>
        </p:spPr>
      </p:sp>
      <p:sp>
        <p:nvSpPr>
          <p:cNvPr id="15" name="Text 12"/>
          <p:cNvSpPr/>
          <p:nvPr/>
        </p:nvSpPr>
        <p:spPr>
          <a:xfrm>
            <a:off x="612648" y="2617470"/>
            <a:ext cx="2426132" cy="934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Charts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3349676" y="2617470"/>
            <a:ext cx="2645588" cy="934974"/>
          </a:xfrm>
          <a:prstGeom prst="roundRect">
            <a:avLst>
              <a:gd name="adj" fmla="val 7824"/>
            </a:avLst>
          </a:prstGeom>
          <a:solidFill>
            <a:srgbClr val="0B2545"/>
          </a:solidFill>
          <a:ln/>
        </p:spPr>
      </p:sp>
      <p:sp>
        <p:nvSpPr>
          <p:cNvPr id="17" name="Text 14"/>
          <p:cNvSpPr/>
          <p:nvPr/>
        </p:nvSpPr>
        <p:spPr>
          <a:xfrm>
            <a:off x="3459404" y="2617470"/>
            <a:ext cx="2426132" cy="934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196432" y="2617470"/>
            <a:ext cx="2645588" cy="934974"/>
          </a:xfrm>
          <a:prstGeom prst="roundRect">
            <a:avLst>
              <a:gd name="adj" fmla="val 7824"/>
            </a:avLst>
          </a:prstGeom>
          <a:solidFill>
            <a:srgbClr val="134074"/>
          </a:solidFill>
          <a:ln/>
        </p:spPr>
      </p:sp>
      <p:sp>
        <p:nvSpPr>
          <p:cNvPr id="19" name="Text 16"/>
          <p:cNvSpPr/>
          <p:nvPr/>
        </p:nvSpPr>
        <p:spPr>
          <a:xfrm>
            <a:off x="6306160" y="2617470"/>
            <a:ext cx="2426132" cy="934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Function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9043187" y="2617470"/>
            <a:ext cx="2645588" cy="934974"/>
          </a:xfrm>
          <a:prstGeom prst="roundRect">
            <a:avLst>
              <a:gd name="adj" fmla="val 7824"/>
            </a:avLst>
          </a:prstGeom>
          <a:solidFill>
            <a:srgbClr val="0B2545"/>
          </a:solidFill>
          <a:ln/>
        </p:spPr>
      </p:sp>
      <p:sp>
        <p:nvSpPr>
          <p:cNvPr id="21" name="Text 18"/>
          <p:cNvSpPr/>
          <p:nvPr/>
        </p:nvSpPr>
        <p:spPr>
          <a:xfrm>
            <a:off x="9152915" y="2617470"/>
            <a:ext cx="2426132" cy="934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SUMIFS Function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02920" y="3753612"/>
            <a:ext cx="2645588" cy="934974"/>
          </a:xfrm>
          <a:prstGeom prst="roundRect">
            <a:avLst>
              <a:gd name="adj" fmla="val 7824"/>
            </a:avLst>
          </a:prstGeom>
          <a:solidFill>
            <a:srgbClr val="0B2545"/>
          </a:solidFill>
          <a:ln/>
        </p:spPr>
      </p:sp>
      <p:sp>
        <p:nvSpPr>
          <p:cNvPr id="23" name="Text 20"/>
          <p:cNvSpPr/>
          <p:nvPr/>
        </p:nvSpPr>
        <p:spPr>
          <a:xfrm>
            <a:off x="612648" y="3753612"/>
            <a:ext cx="2426132" cy="934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COUNTIF / COUNTIFS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3349676" y="3753612"/>
            <a:ext cx="2645588" cy="934974"/>
          </a:xfrm>
          <a:prstGeom prst="roundRect">
            <a:avLst>
              <a:gd name="adj" fmla="val 7824"/>
            </a:avLst>
          </a:prstGeom>
          <a:solidFill>
            <a:srgbClr val="134074"/>
          </a:solidFill>
          <a:ln/>
        </p:spPr>
      </p:sp>
      <p:sp>
        <p:nvSpPr>
          <p:cNvPr id="25" name="Text 22"/>
          <p:cNvSpPr/>
          <p:nvPr/>
        </p:nvSpPr>
        <p:spPr>
          <a:xfrm>
            <a:off x="3459404" y="3753612"/>
            <a:ext cx="2426132" cy="934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Function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196432" y="3753612"/>
            <a:ext cx="2645588" cy="934974"/>
          </a:xfrm>
          <a:prstGeom prst="roundRect">
            <a:avLst>
              <a:gd name="adj" fmla="val 7824"/>
            </a:avLst>
          </a:prstGeom>
          <a:solidFill>
            <a:srgbClr val="0B2545"/>
          </a:solidFill>
          <a:ln/>
        </p:spPr>
      </p:sp>
      <p:sp>
        <p:nvSpPr>
          <p:cNvPr id="27" name="Text 24"/>
          <p:cNvSpPr/>
          <p:nvPr/>
        </p:nvSpPr>
        <p:spPr>
          <a:xfrm>
            <a:off x="6306160" y="3753612"/>
            <a:ext cx="2426132" cy="934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GETPIVOTDATA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9043187" y="3753612"/>
            <a:ext cx="2645588" cy="934974"/>
          </a:xfrm>
          <a:prstGeom prst="roundRect">
            <a:avLst>
              <a:gd name="adj" fmla="val 7824"/>
            </a:avLst>
          </a:prstGeom>
          <a:solidFill>
            <a:srgbClr val="134074"/>
          </a:solidFill>
          <a:ln/>
        </p:spPr>
      </p:sp>
      <p:sp>
        <p:nvSpPr>
          <p:cNvPr id="29" name="Text 26"/>
          <p:cNvSpPr/>
          <p:nvPr/>
        </p:nvSpPr>
        <p:spPr>
          <a:xfrm>
            <a:off x="9152915" y="3753612"/>
            <a:ext cx="2426132" cy="934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Formatting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502920" y="4889754"/>
            <a:ext cx="2645588" cy="934974"/>
          </a:xfrm>
          <a:prstGeom prst="roundRect">
            <a:avLst>
              <a:gd name="adj" fmla="val 7824"/>
            </a:avLst>
          </a:prstGeom>
          <a:solidFill>
            <a:srgbClr val="134074"/>
          </a:solidFill>
          <a:ln/>
        </p:spPr>
      </p:sp>
      <p:sp>
        <p:nvSpPr>
          <p:cNvPr id="31" name="Text 28"/>
          <p:cNvSpPr/>
          <p:nvPr/>
        </p:nvSpPr>
        <p:spPr>
          <a:xfrm>
            <a:off x="612648" y="4889754"/>
            <a:ext cx="2426132" cy="934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3349676" y="4889754"/>
            <a:ext cx="2645588" cy="934974"/>
          </a:xfrm>
          <a:prstGeom prst="roundRect">
            <a:avLst>
              <a:gd name="adj" fmla="val 7824"/>
            </a:avLst>
          </a:prstGeom>
          <a:solidFill>
            <a:srgbClr val="0B2545"/>
          </a:solidFill>
          <a:ln/>
        </p:spPr>
      </p:sp>
      <p:sp>
        <p:nvSpPr>
          <p:cNvPr id="33" name="Text 30"/>
          <p:cNvSpPr/>
          <p:nvPr/>
        </p:nvSpPr>
        <p:spPr>
          <a:xfrm>
            <a:off x="3459404" y="4889754"/>
            <a:ext cx="2426132" cy="934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&amp; Column Charts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6196432" y="4889754"/>
            <a:ext cx="2645588" cy="934974"/>
          </a:xfrm>
          <a:prstGeom prst="roundRect">
            <a:avLst>
              <a:gd name="adj" fmla="val 7824"/>
            </a:avLst>
          </a:prstGeom>
          <a:solidFill>
            <a:srgbClr val="134074"/>
          </a:solidFill>
          <a:ln/>
        </p:spPr>
      </p:sp>
      <p:sp>
        <p:nvSpPr>
          <p:cNvPr id="35" name="Text 32"/>
          <p:cNvSpPr/>
          <p:nvPr/>
        </p:nvSpPr>
        <p:spPr>
          <a:xfrm>
            <a:off x="6306160" y="4889754"/>
            <a:ext cx="2426132" cy="934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Charts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9043187" y="4889754"/>
            <a:ext cx="2645588" cy="934974"/>
          </a:xfrm>
          <a:prstGeom prst="roundRect">
            <a:avLst>
              <a:gd name="adj" fmla="val 7824"/>
            </a:avLst>
          </a:prstGeom>
          <a:solidFill>
            <a:srgbClr val="0B2545"/>
          </a:solidFill>
          <a:ln/>
        </p:spPr>
      </p:sp>
      <p:sp>
        <p:nvSpPr>
          <p:cNvPr id="37" name="Text 34"/>
          <p:cNvSpPr/>
          <p:nvPr/>
        </p:nvSpPr>
        <p:spPr>
          <a:xfrm>
            <a:off x="9152915" y="4889754"/>
            <a:ext cx="2426132" cy="934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Doughnut Charts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Bill &amp; Energy Consumption Analyzer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123157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3" name="Image 0" descr="/home/claude/proj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52728" y="402336"/>
            <a:ext cx="1043604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Description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417320"/>
            <a:ext cx="17830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85800" y="1581912"/>
            <a:ext cx="384048" cy="384048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7" name="Image 1" descr="/home/claude/proj/icons/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664208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5800" y="2002536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85800" y="2359152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b="1" spc="4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RECORDS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502920" y="2862072"/>
            <a:ext cx="17830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85800" y="3026664"/>
            <a:ext cx="384048" cy="384048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12" name="Image 2" descr="/home/claude/proj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3108960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85800" y="344728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685800" y="3803904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b="1" spc="4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COLUMNS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502920" y="4306824"/>
            <a:ext cx="17830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85800" y="4471416"/>
            <a:ext cx="384048" cy="384048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17" name="Image 3" descr="/home/claude/proj/icons/c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4553712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5800" y="489204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Jan-Dec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685800" y="5248656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b="1" spc="4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2025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502920" y="5705856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record represents one electricity bill transaction.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51760" y="1417320"/>
          <a:ext cx="9037015" cy="4480560"/>
        </p:xfrm>
        <a:graphic>
          <a:graphicData uri="http://schemas.openxmlformats.org/drawingml/2006/table">
            <a:tbl>
              <a:tblPr/>
              <a:tblGrid>
                <a:gridCol w="3072585"/>
                <a:gridCol w="5964430"/>
              </a:tblGrid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 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6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ID for each electricity bill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 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6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Residential or Commercial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6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of the consumer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6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appliance driving consumption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 Consumed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6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Electricity used, in kWh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Bill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6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electricity bill amount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6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or Pending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Consumption Level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326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Low, Medium, or 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</a:tr>
            </a:tbl>
          </a:graphicData>
        </a:graphic>
      </p:graphicFrame>
      <p:sp>
        <p:nvSpPr>
          <p:cNvPr id="22" name="Text 15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Bill &amp; Energy Consumption Analyzer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1123157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3" name="Image 0" descr="/home/claude/proj/icons/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52728" y="402336"/>
            <a:ext cx="1043604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 &amp; Processing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3545738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1828800"/>
            <a:ext cx="502920" cy="502920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371600" y="1801368"/>
            <a:ext cx="244845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the Data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31520" y="2468880"/>
            <a:ext cx="308853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dataset organized into a structured Excel Table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4322978" y="1600200"/>
            <a:ext cx="3545738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51578" y="1828800"/>
            <a:ext cx="502920" cy="502920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12" name="Text 9"/>
          <p:cNvSpPr/>
          <p:nvPr/>
        </p:nvSpPr>
        <p:spPr>
          <a:xfrm>
            <a:off x="4551578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5191658" y="1801368"/>
            <a:ext cx="244845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Time Trends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551578" y="2468880"/>
            <a:ext cx="308853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&amp; month columns used for monthly trend analysis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8143037" y="1600200"/>
            <a:ext cx="3545738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371637" y="1828800"/>
            <a:ext cx="502920" cy="502920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17" name="Text 14"/>
          <p:cNvSpPr/>
          <p:nvPr/>
        </p:nvSpPr>
        <p:spPr>
          <a:xfrm>
            <a:off x="8371637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9011717" y="1801368"/>
            <a:ext cx="244845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 Consumers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8371637" y="2468880"/>
            <a:ext cx="308853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Residential and Commercial types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502920" y="3703320"/>
            <a:ext cx="3545738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31520" y="3931920"/>
            <a:ext cx="502920" cy="502920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22" name="Text 19"/>
          <p:cNvSpPr/>
          <p:nvPr/>
        </p:nvSpPr>
        <p:spPr>
          <a:xfrm>
            <a:off x="73152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1371600" y="3904488"/>
            <a:ext cx="244845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Appliances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731520" y="4572000"/>
            <a:ext cx="308853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by AC, Water Heater, Fridge, Washing Machine, TV, Microwave</a:t>
            </a:r>
            <a:endParaRPr lang="en-US" sz="1080" dirty="0"/>
          </a:p>
        </p:txBody>
      </p:sp>
      <p:sp>
        <p:nvSpPr>
          <p:cNvPr id="25" name="Shape 22"/>
          <p:cNvSpPr/>
          <p:nvPr/>
        </p:nvSpPr>
        <p:spPr>
          <a:xfrm>
            <a:off x="4322978" y="3703320"/>
            <a:ext cx="3545738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551578" y="3931920"/>
            <a:ext cx="502920" cy="502920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27" name="Text 24"/>
          <p:cNvSpPr/>
          <p:nvPr/>
        </p:nvSpPr>
        <p:spPr>
          <a:xfrm>
            <a:off x="4551578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5191658" y="3904488"/>
            <a:ext cx="244845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Status &amp; Level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4551578" y="4572000"/>
            <a:ext cx="308853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marked Paid/Pending; usage marked Low/Medium/High</a:t>
            </a:r>
            <a:endParaRPr lang="en-US" sz="1080" dirty="0"/>
          </a:p>
        </p:txBody>
      </p:sp>
      <p:sp>
        <p:nvSpPr>
          <p:cNvPr id="30" name="Shape 27"/>
          <p:cNvSpPr/>
          <p:nvPr/>
        </p:nvSpPr>
        <p:spPr>
          <a:xfrm>
            <a:off x="8143037" y="3703320"/>
            <a:ext cx="3545738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8371637" y="3931920"/>
            <a:ext cx="502920" cy="502920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32" name="Text 29"/>
          <p:cNvSpPr/>
          <p:nvPr/>
        </p:nvSpPr>
        <p:spPr>
          <a:xfrm>
            <a:off x="8371637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9011717" y="3904488"/>
            <a:ext cx="244845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Pivots &amp; Charts</a:t>
            </a:r>
            <a:endParaRPr lang="en-US" sz="1350" dirty="0"/>
          </a:p>
        </p:txBody>
      </p:sp>
      <p:sp>
        <p:nvSpPr>
          <p:cNvPr id="34" name="Text 31"/>
          <p:cNvSpPr/>
          <p:nvPr/>
        </p:nvSpPr>
        <p:spPr>
          <a:xfrm>
            <a:off x="8371637" y="4572000"/>
            <a:ext cx="308853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Tables and Pivot Charts summarize and visualize results</a:t>
            </a:r>
            <a:endParaRPr lang="en-US" sz="1080" dirty="0"/>
          </a:p>
        </p:txBody>
      </p:sp>
      <p:sp>
        <p:nvSpPr>
          <p:cNvPr id="35" name="Text 32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Bill &amp; Energy Consumption Analyzer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123157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FFC300"/>
          </a:solidFill>
          <a:ln/>
        </p:spPr>
      </p:sp>
      <p:pic>
        <p:nvPicPr>
          <p:cNvPr id="3" name="Image 0" descr="/home/claude/proj/icons/gau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52728" y="402336"/>
            <a:ext cx="1043604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Performance Indicators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252728" y="841248"/>
            <a:ext cx="1043604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metrics powering the dashboard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02920" y="1828800"/>
            <a:ext cx="2054291" cy="3566160"/>
          </a:xfrm>
          <a:prstGeom prst="roundRect">
            <a:avLst>
              <a:gd name="adj" fmla="val 4451"/>
            </a:avLst>
          </a:prstGeom>
          <a:solidFill>
            <a:srgbClr val="0E3260"/>
          </a:solidFill>
          <a:ln w="12700">
            <a:solidFill>
              <a:srgbClr val="26456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04088" y="2029968"/>
            <a:ext cx="502920" cy="502920"/>
          </a:xfrm>
          <a:prstGeom prst="ellipse">
            <a:avLst/>
          </a:prstGeom>
          <a:solidFill>
            <a:srgbClr val="FFC300"/>
          </a:solidFill>
          <a:ln/>
        </p:spPr>
      </p:sp>
      <p:pic>
        <p:nvPicPr>
          <p:cNvPr id="8" name="Image 1" descr="/home/claude/proj/icons/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2139696"/>
            <a:ext cx="283464" cy="2834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04088" y="2606040"/>
            <a:ext cx="165195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C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38,333 kWh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04088" y="4937760"/>
            <a:ext cx="16519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spc="50" kern="0" dirty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ELECTRICITY CONSUMED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2785811" y="1828800"/>
            <a:ext cx="2054291" cy="3566160"/>
          </a:xfrm>
          <a:prstGeom prst="roundRect">
            <a:avLst>
              <a:gd name="adj" fmla="val 4451"/>
            </a:avLst>
          </a:prstGeom>
          <a:solidFill>
            <a:srgbClr val="0E3260"/>
          </a:solidFill>
          <a:ln w="12700">
            <a:solidFill>
              <a:srgbClr val="26456E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986979" y="2029968"/>
            <a:ext cx="502920" cy="502920"/>
          </a:xfrm>
          <a:prstGeom prst="ellipse">
            <a:avLst/>
          </a:prstGeom>
          <a:solidFill>
            <a:srgbClr val="FFC300"/>
          </a:solidFill>
          <a:ln/>
        </p:spPr>
      </p:sp>
      <p:pic>
        <p:nvPicPr>
          <p:cNvPr id="13" name="Image 2" descr="/home/claude/proj/icons/mon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6707" y="2139696"/>
            <a:ext cx="283464" cy="2834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986979" y="2606040"/>
            <a:ext cx="165195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C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Rs. 3,24,958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2986979" y="4937760"/>
            <a:ext cx="16519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spc="50" kern="0" dirty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BILL AMOUNT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068702" y="1828800"/>
            <a:ext cx="2054291" cy="3566160"/>
          </a:xfrm>
          <a:prstGeom prst="roundRect">
            <a:avLst>
              <a:gd name="adj" fmla="val 4451"/>
            </a:avLst>
          </a:prstGeom>
          <a:solidFill>
            <a:srgbClr val="0E3260"/>
          </a:solidFill>
          <a:ln w="12700">
            <a:solidFill>
              <a:srgbClr val="26456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269870" y="2029968"/>
            <a:ext cx="502920" cy="502920"/>
          </a:xfrm>
          <a:prstGeom prst="ellipse">
            <a:avLst/>
          </a:prstGeom>
          <a:solidFill>
            <a:srgbClr val="FFC300"/>
          </a:solidFill>
          <a:ln/>
        </p:spPr>
      </p:sp>
      <p:pic>
        <p:nvPicPr>
          <p:cNvPr id="18" name="Image 3" descr="/home/claude/proj/icons/c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9598" y="2139696"/>
            <a:ext cx="283464" cy="28346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269870" y="2606040"/>
            <a:ext cx="165195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C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105.0 kWh/day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5269870" y="4937760"/>
            <a:ext cx="16519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spc="50" kern="0" dirty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DAILY USAGE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7351593" y="1828800"/>
            <a:ext cx="2054291" cy="3566160"/>
          </a:xfrm>
          <a:prstGeom prst="roundRect">
            <a:avLst>
              <a:gd name="adj" fmla="val 4451"/>
            </a:avLst>
          </a:prstGeom>
          <a:solidFill>
            <a:srgbClr val="0E3260"/>
          </a:solidFill>
          <a:ln w="12700">
            <a:solidFill>
              <a:srgbClr val="26456E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552761" y="2029968"/>
            <a:ext cx="502920" cy="502920"/>
          </a:xfrm>
          <a:prstGeom prst="ellipse">
            <a:avLst/>
          </a:prstGeom>
          <a:solidFill>
            <a:srgbClr val="FFC300"/>
          </a:solidFill>
          <a:ln/>
        </p:spPr>
      </p:sp>
      <p:pic>
        <p:nvPicPr>
          <p:cNvPr id="23" name="Image 4" descr="/home/claude/proj/icons/bul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2489" y="2139696"/>
            <a:ext cx="283464" cy="28346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552761" y="2606040"/>
            <a:ext cx="165195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C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</a:t>
            </a:r>
            <a:endParaRPr lang="en-US" sz="2200" dirty="0"/>
          </a:p>
        </p:txBody>
      </p:sp>
      <p:sp>
        <p:nvSpPr>
          <p:cNvPr id="25" name="Text 18"/>
          <p:cNvSpPr/>
          <p:nvPr/>
        </p:nvSpPr>
        <p:spPr>
          <a:xfrm>
            <a:off x="7552761" y="4937760"/>
            <a:ext cx="16519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spc="50" kern="0" dirty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CONSUMING APPLIANCE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9634484" y="1828800"/>
            <a:ext cx="2054291" cy="3566160"/>
          </a:xfrm>
          <a:prstGeom prst="roundRect">
            <a:avLst>
              <a:gd name="adj" fmla="val 4451"/>
            </a:avLst>
          </a:prstGeom>
          <a:solidFill>
            <a:srgbClr val="0E3260"/>
          </a:solidFill>
          <a:ln w="12700">
            <a:solidFill>
              <a:srgbClr val="26456E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9835652" y="2029968"/>
            <a:ext cx="502920" cy="502920"/>
          </a:xfrm>
          <a:prstGeom prst="ellipse">
            <a:avLst/>
          </a:prstGeom>
          <a:solidFill>
            <a:srgbClr val="FFC300"/>
          </a:solidFill>
          <a:ln/>
        </p:spPr>
      </p:sp>
      <p:pic>
        <p:nvPicPr>
          <p:cNvPr id="28" name="Image 5" descr="/home/claude/proj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5380" y="2139696"/>
            <a:ext cx="283464" cy="28346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835652" y="2606040"/>
            <a:ext cx="165195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C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86% Paid</a:t>
            </a:r>
            <a:endParaRPr lang="en-US" sz="2200" dirty="0"/>
          </a:p>
        </p:txBody>
      </p:sp>
      <p:sp>
        <p:nvSpPr>
          <p:cNvPr id="30" name="Text 22"/>
          <p:cNvSpPr/>
          <p:nvPr/>
        </p:nvSpPr>
        <p:spPr>
          <a:xfrm>
            <a:off x="9835652" y="4937760"/>
            <a:ext cx="16519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spc="50" kern="0" dirty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COLLECTION RATIO</a:t>
            </a:r>
            <a:endParaRPr lang="en-US" sz="1050" dirty="0"/>
          </a:p>
        </p:txBody>
      </p:sp>
      <p:sp>
        <p:nvSpPr>
          <p:cNvPr id="31" name="Text 23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Bill &amp; Energy Consumption Analyzer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1123157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3" name="Image 0" descr="/home/claude/proj/icons/gau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52728" y="402336"/>
            <a:ext cx="1043604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Dashboard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252728" y="841248"/>
            <a:ext cx="1043604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by Month, City, and Consumer Type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02920" y="123444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</p:sp>
      <p:pic>
        <p:nvPicPr>
          <p:cNvPr id="7" name="Image 1" descr="/home/claude/proj/icons/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316736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86968" y="123444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423160" y="123444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</p:sp>
      <p:pic>
        <p:nvPicPr>
          <p:cNvPr id="10" name="Image 2" descr="/home/claude/proj/icons/cit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2888" y="1316736"/>
            <a:ext cx="219456" cy="2194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807208" y="123444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4343400" y="123444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34074"/>
          </a:solidFill>
          <a:ln/>
        </p:spPr>
      </p:sp>
      <p:pic>
        <p:nvPicPr>
          <p:cNvPr id="13" name="Image 3" descr="/home/claude/proj/icons/hom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128" y="1316736"/>
            <a:ext cx="219456" cy="2194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727448" y="123444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Type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2566264" y="1636776"/>
            <a:ext cx="7059168" cy="4502864"/>
          </a:xfrm>
          <a:prstGeom prst="roundRect">
            <a:avLst>
              <a:gd name="adj" fmla="val 1015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3A">
                <a:alpha val="18000"/>
              </a:srgbClr>
            </a:outerShdw>
          </a:effectLst>
        </p:spPr>
      </p:sp>
      <p:pic>
        <p:nvPicPr>
          <p:cNvPr id="16" name="Image 4" descr="/home/claude/proj/dashbo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1128" y="1691640"/>
            <a:ext cx="6949440" cy="439313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Bill &amp; Energy Consumption Analyzer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1123157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3" name="Image 0" descr="/home/claude/proj/icons/chart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52728" y="402336"/>
            <a:ext cx="1043604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Consumption Trend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252728" y="841248"/>
            <a:ext cx="1043604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energy usage (kWh) across the year</a:t>
            </a:r>
            <a:endParaRPr lang="en-US" sz="12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463040"/>
          <a:ext cx="768096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8503920" y="1463040"/>
            <a:ext cx="3184855" cy="4434840"/>
          </a:xfrm>
          <a:prstGeom prst="roundRect">
            <a:avLst>
              <a:gd name="adj" fmla="val 2584"/>
            </a:avLst>
          </a:prstGeom>
          <a:solidFill>
            <a:srgbClr val="0B2545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8732520" y="1691640"/>
            <a:ext cx="2727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732520" y="2103120"/>
            <a:ext cx="2727655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E4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usage in October at 4,791 kWh, likely driven by seasonal AC load.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E4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usage in July at 1,794 kWh.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E4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trends closely track total billing cost month to month.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E4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swings help plan capacity and billing cycles.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Bill &amp; Energy Consumption Analyzer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3157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3" name="Image 0" descr="/home/claude/proj/icons/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52728" y="402336"/>
            <a:ext cx="1043604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Appliance Consumption Analysis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252728" y="841248"/>
            <a:ext cx="1043604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electricity use by appliance type (kWh)</a:t>
            </a:r>
            <a:endParaRPr lang="en-US" sz="12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463040"/>
          <a:ext cx="768096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8503920" y="1463040"/>
            <a:ext cx="3184855" cy="4434840"/>
          </a:xfrm>
          <a:prstGeom prst="roundRect">
            <a:avLst>
              <a:gd name="adj" fmla="val 258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8732520" y="1691640"/>
            <a:ext cx="2727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732520" y="2103120"/>
            <a:ext cx="2727655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3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is the single largest consumer — about 47% of total appliance usage.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3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Heater and Refrigerator are the next largest contributors.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3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and Microwave have the smallest impact on billing.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13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 AC efficiency offers the biggest savings opportunity.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Bill &amp; Energy Consumption Analyzer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3157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3" name="Image 0" descr="/home/claude/proj/icons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52728" y="402336"/>
            <a:ext cx="1043604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 Level Distribution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252728" y="841248"/>
            <a:ext cx="1043604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Residential vs. Commercial consumers</a:t>
            </a:r>
            <a:endParaRPr lang="en-US" sz="12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77240" y="1417320"/>
          <a:ext cx="51206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6172200" y="1417320"/>
            <a:ext cx="5516575" cy="4480560"/>
          </a:xfrm>
          <a:prstGeom prst="roundRect">
            <a:avLst>
              <a:gd name="adj" fmla="val 1837"/>
            </a:avLst>
          </a:prstGeom>
          <a:solidFill>
            <a:srgbClr val="0B2545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6446520" y="1691640"/>
            <a:ext cx="49679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6446520" y="2148840"/>
            <a:ext cx="4967935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E4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consumers make up 58% of all billing records.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E4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consumers represent a significant 42% share.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E4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split helps tailor billing and usage policies by segment.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E4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segments are tracked across every city in the dataset.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Bill &amp; Energy Consumption Analyzer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3157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3" name="Image 0" descr="/home/claude/proj/icons/c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52728" y="402336"/>
            <a:ext cx="1043604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City-Wise Consumption Analysis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252728" y="841248"/>
            <a:ext cx="1043604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vs. Commercial usage by city (kWh)</a:t>
            </a:r>
            <a:endParaRPr lang="en-US" sz="12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463040"/>
          <a:ext cx="768096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8503920" y="1463040"/>
            <a:ext cx="3184855" cy="4434840"/>
          </a:xfrm>
          <a:prstGeom prst="roundRect">
            <a:avLst>
              <a:gd name="adj" fmla="val 258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8732520" y="1691640"/>
            <a:ext cx="2727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732520" y="2103120"/>
            <a:ext cx="2727655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130" dirty="0">
                <a:solidFill>
                  <a:srgbClr val="13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shows the highest residential consumption at 5,959 kWh.</a:t>
            </a:r>
            <a:endParaRPr lang="en-US" sz="113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130" dirty="0">
                <a:solidFill>
                  <a:srgbClr val="13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has the lowest commercial usage among all cities.</a:t>
            </a:r>
            <a:endParaRPr lang="en-US" sz="113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130" dirty="0">
                <a:solidFill>
                  <a:srgbClr val="13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usage exceeds commercial usage in every city.</a:t>
            </a:r>
            <a:endParaRPr lang="en-US" sz="113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130" dirty="0">
                <a:solidFill>
                  <a:srgbClr val="13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Kolkata and Delhi show consistently high demand across segments.</a:t>
            </a:r>
            <a:endParaRPr lang="en-US" sz="1130" dirty="0"/>
          </a:p>
        </p:txBody>
      </p:sp>
      <p:sp>
        <p:nvSpPr>
          <p:cNvPr id="10" name="Text 6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Bill &amp; Energy Consumption Analyzer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3157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3" name="Image 0" descr="/home/claude/proj/icons/mon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52728" y="402336"/>
            <a:ext cx="1043604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City-Wise Bill Amount Analysis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252728" y="841248"/>
            <a:ext cx="1043604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electricity billing generated per city (Rs.)</a:t>
            </a:r>
            <a:endParaRPr lang="en-US" sz="12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463040"/>
          <a:ext cx="768096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8503920" y="1463040"/>
            <a:ext cx="3184855" cy="4434840"/>
          </a:xfrm>
          <a:prstGeom prst="roundRect">
            <a:avLst>
              <a:gd name="adj" fmla="val 2584"/>
            </a:avLst>
          </a:prstGeom>
          <a:solidFill>
            <a:srgbClr val="0B2545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8732520" y="1691640"/>
            <a:ext cx="2727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732520" y="2103120"/>
            <a:ext cx="2727655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E4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generates the highest billing at Rs. 77,661.5.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E4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Kolkata follows closely at Rs. 71,486.5.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E4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has the lowest total billing at Rs. 48,841.</a:t>
            </a:r>
            <a:endParaRPr lang="en-US" sz="11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E4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High-billing cities are priority areas for revenue focus.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Bill &amp; Energy Consumption Analyzer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3157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3" name="Image 0" descr="/home/claude/proj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52728" y="402336"/>
            <a:ext cx="1043604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Status &amp; Consumption Level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252728" y="841248"/>
            <a:ext cx="1043604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ratio and usage-intensity distribution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02920" y="1417320"/>
            <a:ext cx="5410048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1600200"/>
            <a:ext cx="495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Status: Collection Ratio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1051560" y="1965960"/>
          <a:ext cx="4312768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6278728" y="1417320"/>
            <a:ext cx="5410048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6507328" y="1600200"/>
            <a:ext cx="495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Consumption Level Distribution</a:t>
            </a:r>
            <a:endParaRPr lang="en-US" sz="140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6827368" y="1965960"/>
          <a:ext cx="4312768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 7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Bill &amp; Energy Consumption Analyzer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1123157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3" name="Image 0" descr="/home/claude/proj/icons/cr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52728" y="402336"/>
            <a:ext cx="1043604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Consumer Analysis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252728" y="841248"/>
            <a:ext cx="1043604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generating the highest total bill amounts</a:t>
            </a:r>
            <a:endParaRPr lang="en-US" sz="12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77240" y="1417320"/>
          <a:ext cx="53949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6446520" y="1417320"/>
            <a:ext cx="5242255" cy="4480560"/>
          </a:xfrm>
          <a:prstGeom prst="roundRect">
            <a:avLst>
              <a:gd name="adj" fmla="val 1837"/>
            </a:avLst>
          </a:prstGeom>
          <a:solidFill>
            <a:srgbClr val="0B2545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6720840" y="1691640"/>
            <a:ext cx="46936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6720840" y="2148840"/>
            <a:ext cx="4693615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E4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Riya Ghosh is the top consumer, contributing 28% of top-tier billing.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E4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Sneha Paul and Raj Das each contribute a further 22%.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E4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 top 5 consumers highlight high-value accounts.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E4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targeted account management and follow-up.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Bill &amp; Energy Consumption Analyzer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3157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3" name="Image 0" descr="/home/claude/proj/icons/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52728" y="402336"/>
            <a:ext cx="1043604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of the Project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508760"/>
            <a:ext cx="384048" cy="384048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6" name="Image 1" descr="/home/claude/proj/icons/gau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1591056"/>
            <a:ext cx="219456" cy="2194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14984" y="1490472"/>
            <a:ext cx="4852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Excel dashboard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6324448" y="1508760"/>
            <a:ext cx="384048" cy="38404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9" name="Image 2" descr="/home/claude/proj/icons/targ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6744" y="1591056"/>
            <a:ext cx="219456" cy="2194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836512" y="1490472"/>
            <a:ext cx="4852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for quick monitoring</a:t>
            </a:r>
            <a:endParaRPr lang="en-US" sz="1250" dirty="0"/>
          </a:p>
        </p:txBody>
      </p:sp>
      <p:sp>
        <p:nvSpPr>
          <p:cNvPr id="11" name="Shape 6"/>
          <p:cNvSpPr/>
          <p:nvPr/>
        </p:nvSpPr>
        <p:spPr>
          <a:xfrm>
            <a:off x="502920" y="2286000"/>
            <a:ext cx="384048" cy="38404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2" name="Image 3" descr="/home/claude/proj/icons/chartli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2368296"/>
            <a:ext cx="219456" cy="2194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14984" y="2267712"/>
            <a:ext cx="4852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consumption &amp; bill trend analysis</a:t>
            </a:r>
            <a:endParaRPr lang="en-US" sz="1250" dirty="0"/>
          </a:p>
        </p:txBody>
      </p:sp>
      <p:sp>
        <p:nvSpPr>
          <p:cNvPr id="14" name="Shape 8"/>
          <p:cNvSpPr/>
          <p:nvPr/>
        </p:nvSpPr>
        <p:spPr>
          <a:xfrm>
            <a:off x="6324448" y="2286000"/>
            <a:ext cx="384048" cy="384048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15" name="Image 4" descr="/home/claude/proj/icons/bul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6744" y="2368296"/>
            <a:ext cx="219456" cy="21945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836512" y="2267712"/>
            <a:ext cx="4852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Appliance-wise energy consumption analysis</a:t>
            </a:r>
            <a:endParaRPr lang="en-US" sz="1250" dirty="0"/>
          </a:p>
        </p:txBody>
      </p:sp>
      <p:sp>
        <p:nvSpPr>
          <p:cNvPr id="17" name="Shape 10"/>
          <p:cNvSpPr/>
          <p:nvPr/>
        </p:nvSpPr>
        <p:spPr>
          <a:xfrm>
            <a:off x="502920" y="3063240"/>
            <a:ext cx="384048" cy="384048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18" name="Image 5" descr="/home/claude/proj/icons/cit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" y="3145536"/>
            <a:ext cx="219456" cy="21945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014984" y="3044952"/>
            <a:ext cx="4852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City-wise consumption comparison</a:t>
            </a:r>
            <a:endParaRPr lang="en-US" sz="1250" dirty="0"/>
          </a:p>
        </p:txBody>
      </p:sp>
      <p:sp>
        <p:nvSpPr>
          <p:cNvPr id="20" name="Shape 12"/>
          <p:cNvSpPr/>
          <p:nvPr/>
        </p:nvSpPr>
        <p:spPr>
          <a:xfrm>
            <a:off x="6324448" y="3063240"/>
            <a:ext cx="384048" cy="38404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21" name="Image 6" descr="/home/claude/proj/icons/mone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6744" y="3145536"/>
            <a:ext cx="219456" cy="219456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836512" y="3044952"/>
            <a:ext cx="4852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City-wise total bill comparison</a:t>
            </a:r>
            <a:endParaRPr lang="en-US" sz="1250" dirty="0"/>
          </a:p>
        </p:txBody>
      </p:sp>
      <p:sp>
        <p:nvSpPr>
          <p:cNvPr id="23" name="Shape 14"/>
          <p:cNvSpPr/>
          <p:nvPr/>
        </p:nvSpPr>
        <p:spPr>
          <a:xfrm>
            <a:off x="502920" y="3840480"/>
            <a:ext cx="384048" cy="38404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24" name="Image 7" descr="/home/claude/proj/icons/hom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216" y="3922776"/>
            <a:ext cx="219456" cy="219456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1014984" y="3822192"/>
            <a:ext cx="4852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vs. Commercial distribution</a:t>
            </a:r>
            <a:endParaRPr lang="en-US" sz="1250" dirty="0"/>
          </a:p>
        </p:txBody>
      </p:sp>
      <p:sp>
        <p:nvSpPr>
          <p:cNvPr id="26" name="Shape 16"/>
          <p:cNvSpPr/>
          <p:nvPr/>
        </p:nvSpPr>
        <p:spPr>
          <a:xfrm>
            <a:off x="6324448" y="3840480"/>
            <a:ext cx="384048" cy="384048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27" name="Image 8" descr="/home/claude/proj/icons/chec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6744" y="3922776"/>
            <a:ext cx="219456" cy="219456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6836512" y="3822192"/>
            <a:ext cx="4852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status &amp; collection ratio analysis</a:t>
            </a:r>
            <a:endParaRPr lang="en-US" sz="1250" dirty="0"/>
          </a:p>
        </p:txBody>
      </p:sp>
      <p:sp>
        <p:nvSpPr>
          <p:cNvPr id="29" name="Shape 18"/>
          <p:cNvSpPr/>
          <p:nvPr/>
        </p:nvSpPr>
        <p:spPr>
          <a:xfrm>
            <a:off x="502920" y="4617720"/>
            <a:ext cx="384048" cy="384048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30" name="Image 9" descr="/home/claude/proj/icons/crown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5216" y="4700016"/>
            <a:ext cx="219456" cy="219456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1014984" y="4599432"/>
            <a:ext cx="4852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consumer identification</a:t>
            </a:r>
            <a:endParaRPr lang="en-US" sz="1250" dirty="0"/>
          </a:p>
        </p:txBody>
      </p:sp>
      <p:sp>
        <p:nvSpPr>
          <p:cNvPr id="32" name="Shape 20"/>
          <p:cNvSpPr/>
          <p:nvPr/>
        </p:nvSpPr>
        <p:spPr>
          <a:xfrm>
            <a:off x="6324448" y="4617720"/>
            <a:ext cx="384048" cy="38404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33" name="Image 10" descr="/home/claude/proj/icons/layer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6744" y="4700016"/>
            <a:ext cx="219456" cy="219456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6836512" y="4599432"/>
            <a:ext cx="4852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Medium / High consumption analysis</a:t>
            </a:r>
            <a:endParaRPr lang="en-US" sz="1250" dirty="0"/>
          </a:p>
        </p:txBody>
      </p:sp>
      <p:sp>
        <p:nvSpPr>
          <p:cNvPr id="35" name="Shape 22"/>
          <p:cNvSpPr/>
          <p:nvPr/>
        </p:nvSpPr>
        <p:spPr>
          <a:xfrm>
            <a:off x="502920" y="5394960"/>
            <a:ext cx="384048" cy="38404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36" name="Image 11" descr="/home/claude/proj/icons/cogs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5216" y="5477256"/>
            <a:ext cx="219456" cy="219456"/>
          </a:xfrm>
          <a:prstGeom prst="rect">
            <a:avLst/>
          </a:prstGeom>
        </p:spPr>
      </p:pic>
      <p:sp>
        <p:nvSpPr>
          <p:cNvPr id="37" name="Text 23"/>
          <p:cNvSpPr/>
          <p:nvPr/>
        </p:nvSpPr>
        <p:spPr>
          <a:xfrm>
            <a:off x="1014984" y="5376672"/>
            <a:ext cx="4852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Month, City &amp; Consumer Type slicers</a:t>
            </a:r>
            <a:endParaRPr lang="en-US" sz="1250" dirty="0"/>
          </a:p>
        </p:txBody>
      </p:sp>
      <p:sp>
        <p:nvSpPr>
          <p:cNvPr id="38" name="Text 24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Bill &amp; Energy Consumption Analyzer</a:t>
            </a:r>
            <a:endParaRPr lang="en-US" sz="900" dirty="0"/>
          </a:p>
        </p:txBody>
      </p:sp>
      <p:sp>
        <p:nvSpPr>
          <p:cNvPr id="39" name="Text 25"/>
          <p:cNvSpPr/>
          <p:nvPr/>
        </p:nvSpPr>
        <p:spPr>
          <a:xfrm>
            <a:off x="1123157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3" name="Image 0" descr="/home/claude/proj/icons/gr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52728" y="402336"/>
            <a:ext cx="1043604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417320"/>
            <a:ext cx="5364328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324448" y="1417320"/>
            <a:ext cx="5364328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691640"/>
            <a:ext cx="4815688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3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Organizing and cleaning data in Excel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3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formulas &amp; functions for analysis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3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Pivot Tables for large datasets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3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different chart types for visualization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3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KPI cards for reporting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598768" y="1691640"/>
            <a:ext cx="4815688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3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slicers &amp; filters for interactivity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3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usage by appliance, city &amp; consumer type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3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payment collection &amp; pending bills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3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dashboard design &amp; visualization skills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3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Collaborating effectively as a team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Bill &amp; Energy Consumption Analyzer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3157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3" name="Image 0" descr="/home/claude/proj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52728" y="402336"/>
            <a:ext cx="1043604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Contribution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252728" y="841248"/>
            <a:ext cx="1043604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divided across three members for efficient delivery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02920" y="1600200"/>
            <a:ext cx="3515258" cy="4206240"/>
          </a:xfrm>
          <a:prstGeom prst="roundRect">
            <a:avLst>
              <a:gd name="adj" fmla="val 234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849069" y="1874520"/>
            <a:ext cx="822960" cy="82296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8" name="Image 1" descr="/home/claude/proj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949" y="205740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" y="2880360"/>
            <a:ext cx="35152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 1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02920" y="3273552"/>
            <a:ext cx="35152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Preparation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777240" y="3749040"/>
            <a:ext cx="296661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the raw dataset and performed Excel data cleaning to prepare it for analysis.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338218" y="1600200"/>
            <a:ext cx="3515258" cy="4206240"/>
          </a:xfrm>
          <a:prstGeom prst="roundRect">
            <a:avLst>
              <a:gd name="adj" fmla="val 234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684368" y="1874520"/>
            <a:ext cx="822960" cy="82296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14" name="Image 2" descr="/home/claude/proj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248" y="205740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338218" y="2880360"/>
            <a:ext cx="35152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 2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4338218" y="3273552"/>
            <a:ext cx="35152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Tables &amp; Analysis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612538" y="3749040"/>
            <a:ext cx="296661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Pivot Tables, applied formulas, and carried out the core data analysis.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8173517" y="1600200"/>
            <a:ext cx="3515258" cy="4206240"/>
          </a:xfrm>
          <a:prstGeom prst="roundRect">
            <a:avLst>
              <a:gd name="adj" fmla="val 2341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519666" y="1874520"/>
            <a:ext cx="822960" cy="822960"/>
          </a:xfrm>
          <a:prstGeom prst="ellipse">
            <a:avLst/>
          </a:prstGeom>
          <a:solidFill>
            <a:srgbClr val="134074"/>
          </a:solidFill>
          <a:ln/>
        </p:spPr>
      </p:sp>
      <p:pic>
        <p:nvPicPr>
          <p:cNvPr id="20" name="Image 3" descr="/home/claude/proj/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2546" y="205740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173517" y="2880360"/>
            <a:ext cx="35152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 3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8173517" y="3273552"/>
            <a:ext cx="351525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Reporting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8447837" y="3749040"/>
            <a:ext cx="296661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the dashboard, created charts, handled formatting, and prepared the report.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Bill &amp; Energy Consumption Analyzer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3157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FFC300"/>
          </a:solidFill>
          <a:ln/>
        </p:spPr>
      </p:sp>
      <p:pic>
        <p:nvPicPr>
          <p:cNvPr id="3" name="Image 0" descr="/home/claude/proj/icons/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52728" y="402336"/>
            <a:ext cx="1043604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02920" y="1554480"/>
            <a:ext cx="1118585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4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Electricity Bill &amp; Energy Consumption Analyzer demonstrates how Microsoft Excel can drive effective data analysis and visualization — turning 180 billing records into a centralized, interactive view of energy usage and revenue performance.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02920" y="2743200"/>
            <a:ext cx="2590724" cy="1828800"/>
          </a:xfrm>
          <a:prstGeom prst="roundRect">
            <a:avLst>
              <a:gd name="adj" fmla="val 5000"/>
            </a:avLst>
          </a:prstGeom>
          <a:solidFill>
            <a:srgbClr val="0E3260"/>
          </a:solidFill>
          <a:ln w="12700">
            <a:solidFill>
              <a:srgbClr val="26456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04088" y="2944368"/>
            <a:ext cx="502920" cy="502920"/>
          </a:xfrm>
          <a:prstGeom prst="ellipse">
            <a:avLst/>
          </a:prstGeom>
          <a:solidFill>
            <a:srgbClr val="FFC300"/>
          </a:solidFill>
          <a:ln/>
        </p:spPr>
      </p:sp>
      <p:pic>
        <p:nvPicPr>
          <p:cNvPr id="8" name="Image 1" descr="/home/claude/proj/icons/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3054096"/>
            <a:ext cx="283464" cy="2834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04088" y="3520440"/>
            <a:ext cx="21883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C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38,333 kWh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04088" y="4114800"/>
            <a:ext cx="21883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spc="50" kern="0" dirty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CONSUMED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367964" y="2743200"/>
            <a:ext cx="2590724" cy="1828800"/>
          </a:xfrm>
          <a:prstGeom prst="roundRect">
            <a:avLst>
              <a:gd name="adj" fmla="val 5000"/>
            </a:avLst>
          </a:prstGeom>
          <a:solidFill>
            <a:srgbClr val="0E3260"/>
          </a:solidFill>
          <a:ln w="12700">
            <a:solidFill>
              <a:srgbClr val="26456E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569132" y="2944368"/>
            <a:ext cx="502920" cy="502920"/>
          </a:xfrm>
          <a:prstGeom prst="ellipse">
            <a:avLst/>
          </a:prstGeom>
          <a:solidFill>
            <a:srgbClr val="FFC300"/>
          </a:solidFill>
          <a:ln/>
        </p:spPr>
      </p:sp>
      <p:pic>
        <p:nvPicPr>
          <p:cNvPr id="13" name="Image 2" descr="/home/claude/proj/icons/mon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8860" y="3054096"/>
            <a:ext cx="283464" cy="2834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69132" y="3520440"/>
            <a:ext cx="21883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C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Rs. 3,24,958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3569132" y="4114800"/>
            <a:ext cx="21883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spc="50" kern="0" dirty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BILLED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233008" y="2743200"/>
            <a:ext cx="2590724" cy="1828800"/>
          </a:xfrm>
          <a:prstGeom prst="roundRect">
            <a:avLst>
              <a:gd name="adj" fmla="val 5000"/>
            </a:avLst>
          </a:prstGeom>
          <a:solidFill>
            <a:srgbClr val="0E3260"/>
          </a:solidFill>
          <a:ln w="12700">
            <a:solidFill>
              <a:srgbClr val="26456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34176" y="2944368"/>
            <a:ext cx="502920" cy="502920"/>
          </a:xfrm>
          <a:prstGeom prst="ellipse">
            <a:avLst/>
          </a:prstGeom>
          <a:solidFill>
            <a:srgbClr val="FFC300"/>
          </a:solidFill>
          <a:ln/>
        </p:spPr>
      </p:sp>
      <p:pic>
        <p:nvPicPr>
          <p:cNvPr id="18" name="Image 3" descr="/home/claude/proj/icons/bul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3904" y="3054096"/>
            <a:ext cx="283464" cy="28346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434176" y="3520440"/>
            <a:ext cx="21883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C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6434176" y="4114800"/>
            <a:ext cx="21883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spc="50" kern="0" dirty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APPLIANCE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9098051" y="2743200"/>
            <a:ext cx="2590724" cy="1828800"/>
          </a:xfrm>
          <a:prstGeom prst="roundRect">
            <a:avLst>
              <a:gd name="adj" fmla="val 5000"/>
            </a:avLst>
          </a:prstGeom>
          <a:solidFill>
            <a:srgbClr val="0E3260"/>
          </a:solidFill>
          <a:ln w="12700">
            <a:solidFill>
              <a:srgbClr val="26456E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9299219" y="2944368"/>
            <a:ext cx="502920" cy="502920"/>
          </a:xfrm>
          <a:prstGeom prst="ellipse">
            <a:avLst/>
          </a:prstGeom>
          <a:solidFill>
            <a:srgbClr val="FFC300"/>
          </a:solidFill>
          <a:ln/>
        </p:spPr>
      </p:sp>
      <p:pic>
        <p:nvPicPr>
          <p:cNvPr id="23" name="Image 4" descr="/home/claude/proj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8947" y="3054096"/>
            <a:ext cx="283464" cy="28346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299219" y="3520440"/>
            <a:ext cx="21883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C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86%</a:t>
            </a:r>
            <a:endParaRPr lang="en-US" sz="2200" dirty="0"/>
          </a:p>
        </p:txBody>
      </p:sp>
      <p:sp>
        <p:nvSpPr>
          <p:cNvPr id="25" name="Text 18"/>
          <p:cNvSpPr/>
          <p:nvPr/>
        </p:nvSpPr>
        <p:spPr>
          <a:xfrm>
            <a:off x="9299219" y="4114800"/>
            <a:ext cx="218838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spc="50" kern="0" dirty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502920" y="4892040"/>
            <a:ext cx="1118585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Overall, the project strengthened practical skills in Advanced Excel — Pivot Tables, formulas, data visualization, dashboard development, and business data analysis.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Bill &amp; Energy Consumption Analyzer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23157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3" name="Image 0" descr="/home/claude/proj/icons/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585216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52728" y="402336"/>
            <a:ext cx="1043604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438912" cy="438912"/>
          </a:xfrm>
          <a:prstGeom prst="ellipse">
            <a:avLst/>
          </a:prstGeom>
          <a:solidFill>
            <a:srgbClr val="FFC300"/>
          </a:solidFill>
          <a:ln/>
        </p:spPr>
      </p:sp>
      <p:pic>
        <p:nvPicPr>
          <p:cNvPr id="6" name="Image 1" descr="/home/claude/proj/icons/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91640"/>
            <a:ext cx="256032" cy="2560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88136" y="1527048"/>
            <a:ext cx="4779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dashboard updates when new data is added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6324448" y="1600200"/>
            <a:ext cx="438912" cy="438912"/>
          </a:xfrm>
          <a:prstGeom prst="ellipse">
            <a:avLst/>
          </a:prstGeom>
          <a:solidFill>
            <a:srgbClr val="FFC300"/>
          </a:solidFill>
          <a:ln/>
        </p:spPr>
      </p:sp>
      <p:pic>
        <p:nvPicPr>
          <p:cNvPr id="9" name="Image 2" descr="/home/claude/proj/icons/chartl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5888" y="1691640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09664" y="1527048"/>
            <a:ext cx="4779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forecasting of future electricity consumption</a:t>
            </a:r>
            <a:endParaRPr lang="en-US" sz="1250" dirty="0"/>
          </a:p>
        </p:txBody>
      </p:sp>
      <p:sp>
        <p:nvSpPr>
          <p:cNvPr id="11" name="Shape 6"/>
          <p:cNvSpPr/>
          <p:nvPr/>
        </p:nvSpPr>
        <p:spPr>
          <a:xfrm>
            <a:off x="502920" y="2514600"/>
            <a:ext cx="438912" cy="438912"/>
          </a:xfrm>
          <a:prstGeom prst="ellipse">
            <a:avLst/>
          </a:prstGeom>
          <a:solidFill>
            <a:srgbClr val="FFC300"/>
          </a:solidFill>
          <a:ln/>
        </p:spPr>
      </p:sp>
      <p:pic>
        <p:nvPicPr>
          <p:cNvPr id="12" name="Image 3" descr="/home/claude/proj/icons/targ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606040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88136" y="2441448"/>
            <a:ext cx="4779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of abnormal or unusually high usage</a:t>
            </a:r>
            <a:endParaRPr lang="en-US" sz="1250" dirty="0"/>
          </a:p>
        </p:txBody>
      </p:sp>
      <p:sp>
        <p:nvSpPr>
          <p:cNvPr id="14" name="Shape 8"/>
          <p:cNvSpPr/>
          <p:nvPr/>
        </p:nvSpPr>
        <p:spPr>
          <a:xfrm>
            <a:off x="6324448" y="2514600"/>
            <a:ext cx="438912" cy="438912"/>
          </a:xfrm>
          <a:prstGeom prst="ellipse">
            <a:avLst/>
          </a:prstGeom>
          <a:solidFill>
            <a:srgbClr val="FFC300"/>
          </a:solidFill>
          <a:ln/>
        </p:spPr>
      </p:sp>
      <p:pic>
        <p:nvPicPr>
          <p:cNvPr id="15" name="Image 4" descr="/home/claude/proj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5888" y="2606040"/>
            <a:ext cx="256032" cy="25603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909664" y="2441448"/>
            <a:ext cx="4779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alerts for pending payments</a:t>
            </a:r>
            <a:endParaRPr lang="en-US" sz="1250" dirty="0"/>
          </a:p>
        </p:txBody>
      </p:sp>
      <p:sp>
        <p:nvSpPr>
          <p:cNvPr id="17" name="Shape 10"/>
          <p:cNvSpPr/>
          <p:nvPr/>
        </p:nvSpPr>
        <p:spPr>
          <a:xfrm>
            <a:off x="502920" y="3429000"/>
            <a:ext cx="438912" cy="438912"/>
          </a:xfrm>
          <a:prstGeom prst="ellipse">
            <a:avLst/>
          </a:prstGeom>
          <a:solidFill>
            <a:srgbClr val="FFC300"/>
          </a:solidFill>
          <a:ln/>
        </p:spPr>
      </p:sp>
      <p:pic>
        <p:nvPicPr>
          <p:cNvPr id="18" name="Image 5" descr="/home/claude/proj/icons/gaug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520440"/>
            <a:ext cx="256032" cy="25603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088136" y="3355848"/>
            <a:ext cx="4779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Power BI for advanced visualizations</a:t>
            </a:r>
            <a:endParaRPr lang="en-US" sz="1250" dirty="0"/>
          </a:p>
        </p:txBody>
      </p:sp>
      <p:sp>
        <p:nvSpPr>
          <p:cNvPr id="20" name="Shape 12"/>
          <p:cNvSpPr/>
          <p:nvPr/>
        </p:nvSpPr>
        <p:spPr>
          <a:xfrm>
            <a:off x="6324448" y="3429000"/>
            <a:ext cx="438912" cy="438912"/>
          </a:xfrm>
          <a:prstGeom prst="ellipse">
            <a:avLst/>
          </a:prstGeom>
          <a:solidFill>
            <a:srgbClr val="FFC300"/>
          </a:solidFill>
          <a:ln/>
        </p:spPr>
      </p:sp>
      <p:pic>
        <p:nvPicPr>
          <p:cNvPr id="21" name="Image 6" descr="/home/claude/proj/icons/bol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5888" y="3520440"/>
            <a:ext cx="256032" cy="256032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909664" y="3355848"/>
            <a:ext cx="4779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macros or VBA automation</a:t>
            </a:r>
            <a:endParaRPr lang="en-US" sz="1250" dirty="0"/>
          </a:p>
        </p:txBody>
      </p:sp>
      <p:sp>
        <p:nvSpPr>
          <p:cNvPr id="23" name="Shape 14"/>
          <p:cNvSpPr/>
          <p:nvPr/>
        </p:nvSpPr>
        <p:spPr>
          <a:xfrm>
            <a:off x="502920" y="4343400"/>
            <a:ext cx="438912" cy="438912"/>
          </a:xfrm>
          <a:prstGeom prst="ellipse">
            <a:avLst/>
          </a:prstGeom>
          <a:solidFill>
            <a:srgbClr val="FFC300"/>
          </a:solidFill>
          <a:ln/>
        </p:spPr>
      </p:sp>
      <p:pic>
        <p:nvPicPr>
          <p:cNvPr id="24" name="Image 7" descr="/home/claude/proj/icons/bulb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4434840"/>
            <a:ext cx="256032" cy="256032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1088136" y="4270248"/>
            <a:ext cx="47791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6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models for electricity bill estimation</a:t>
            </a:r>
            <a:endParaRPr lang="en-US" sz="1250" dirty="0"/>
          </a:p>
        </p:txBody>
      </p:sp>
      <p:sp>
        <p:nvSpPr>
          <p:cNvPr id="26" name="Text 16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Bill &amp; Energy Consumption Analyzer</a:t>
            </a:r>
            <a:endParaRPr lang="en-US" sz="900" dirty="0"/>
          </a:p>
        </p:txBody>
      </p:sp>
      <p:sp>
        <p:nvSpPr>
          <p:cNvPr id="27" name="Text 17"/>
          <p:cNvSpPr/>
          <p:nvPr/>
        </p:nvSpPr>
        <p:spPr>
          <a:xfrm>
            <a:off x="1123157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0E3260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480560"/>
            <a:ext cx="4206240" cy="4206240"/>
          </a:xfrm>
          <a:prstGeom prst="ellipse">
            <a:avLst/>
          </a:prstGeom>
          <a:solidFill>
            <a:srgbClr val="0E3260"/>
          </a:solidFill>
          <a:ln/>
        </p:spPr>
      </p:sp>
      <p:sp>
        <p:nvSpPr>
          <p:cNvPr id="4" name="Shape 2"/>
          <p:cNvSpPr/>
          <p:nvPr/>
        </p:nvSpPr>
        <p:spPr>
          <a:xfrm>
            <a:off x="5638648" y="868680"/>
            <a:ext cx="914400" cy="914400"/>
          </a:xfrm>
          <a:prstGeom prst="ellipse">
            <a:avLst/>
          </a:prstGeom>
          <a:solidFill>
            <a:srgbClr val="FFC300"/>
          </a:solidFill>
          <a:ln/>
        </p:spPr>
      </p:sp>
      <p:pic>
        <p:nvPicPr>
          <p:cNvPr id="5" name="Image 0" descr="/home/claude/proj/icons/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9816" y="1069848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01168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0" y="2788920"/>
            <a:ext cx="12191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261208" y="3657600"/>
            <a:ext cx="5669280" cy="1554480"/>
          </a:xfrm>
          <a:prstGeom prst="roundRect">
            <a:avLst>
              <a:gd name="adj" fmla="val 5294"/>
            </a:avLst>
          </a:prstGeom>
          <a:solidFill>
            <a:srgbClr val="0E3260"/>
          </a:solidFill>
          <a:ln w="12700">
            <a:solidFill>
              <a:srgbClr val="26456E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535528" y="39776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/home/claude/proj/icons/githu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0120" y="4142232"/>
            <a:ext cx="493776" cy="4937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41368" y="397764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
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Electricity-Bill-Energy-Consumption-Analyzer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02920" y="6510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Bill &amp; Energy Consumption Analyzer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31575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2026-08-29T13:57:49Z</dcterms:created>
  <dcterms:modified xsi:type="dcterms:W3CDTF">2026-08-29T13:57:49Z</dcterms:modified>
</cp:coreProperties>
</file>